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9" d="100"/>
          <a:sy n="89" d="100"/>
        </p:scale>
        <p:origin x="437" y="-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F0F6FC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F0F6FC"/>
                </a:solidFill>
                <a:latin typeface="Arial"/>
              </a:rPr>
              <a:t>Acoustic Telemetry: Human vs. Synthetic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Authentic Human Speech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0F6F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Pitch Jitter
(F0 Var)</c:v>
                </c:pt>
                <c:pt idx="1">
                  <c:v>Spectral Flatness
(Entropy x10)</c:v>
                </c:pt>
                <c:pt idx="2">
                  <c:v>Pause/Respiration
Ratio (%)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2.35E-2</c:v>
                </c:pt>
                <c:pt idx="1">
                  <c:v>0.16500000000000001</c:v>
                </c:pt>
                <c:pt idx="2">
                  <c:v>42.5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E5C-4D77-9F54-5D70DC64AC5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AI Cloned Deepfake Voice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0F6F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Pitch Jitter
(F0 Var)</c:v>
                </c:pt>
                <c:pt idx="1">
                  <c:v>Spectral Flatness
(Entropy x10)</c:v>
                </c:pt>
                <c:pt idx="2">
                  <c:v>Pause/Respiration
Ratio (%)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9.1999999999999998E-3</c:v>
                </c:pt>
                <c:pt idx="1">
                  <c:v>0.38500000000000001</c:v>
                </c:pt>
                <c:pt idx="2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E5C-4D77-9F54-5D70DC64AC5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1A222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80B10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80B1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F0F6FC"/>
                </a:solidFill>
                <a:latin typeface="Arial"/>
              </a:defRPr>
            </a:pPr>
            <a:r>
              <a:rPr lang="en-IN" sz="1250" b="0" i="0" u="none" strike="noStrike">
                <a:solidFill>
                  <a:srgbClr val="F0F6FC"/>
                </a:solidFill>
                <a:latin typeface="Arial"/>
              </a:rPr>
              <a:t>Logit Temperature Scaling Calibration (T = 3.0)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Standard Softmax (T=1.0)</c:v>
                </c:pt>
              </c:strCache>
            </c:strRef>
          </c:tx>
          <c:spPr>
            <a:ln w="31750" cap="flat">
              <a:solidFill>
                <a:srgbClr val="EF4444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Sheet1!$A$2:$A$26</c:f>
              <c:strCache>
                <c:ptCount val="25"/>
                <c:pt idx="0">
                  <c:v>-12</c:v>
                </c:pt>
                <c:pt idx="1">
                  <c:v>-11</c:v>
                </c:pt>
                <c:pt idx="2">
                  <c:v>-10</c:v>
                </c:pt>
                <c:pt idx="3">
                  <c:v>-9</c:v>
                </c:pt>
                <c:pt idx="4">
                  <c:v>-8</c:v>
                </c:pt>
                <c:pt idx="5">
                  <c:v>-7</c:v>
                </c:pt>
                <c:pt idx="6">
                  <c:v>-6</c:v>
                </c:pt>
                <c:pt idx="7">
                  <c:v>-5</c:v>
                </c:pt>
                <c:pt idx="8">
                  <c:v>-4</c:v>
                </c:pt>
                <c:pt idx="9">
                  <c:v>-3</c:v>
                </c:pt>
                <c:pt idx="10">
                  <c:v>-2</c:v>
                </c:pt>
                <c:pt idx="11">
                  <c:v>-1</c:v>
                </c:pt>
                <c:pt idx="12">
                  <c:v>0</c:v>
                </c:pt>
                <c:pt idx="13">
                  <c:v>1</c:v>
                </c:pt>
                <c:pt idx="14">
                  <c:v>2</c:v>
                </c:pt>
                <c:pt idx="15">
                  <c:v>3</c:v>
                </c:pt>
                <c:pt idx="16">
                  <c:v>4</c:v>
                </c:pt>
                <c:pt idx="17">
                  <c:v>5</c:v>
                </c:pt>
                <c:pt idx="18">
                  <c:v>6</c:v>
                </c:pt>
                <c:pt idx="19">
                  <c:v>7</c:v>
                </c:pt>
                <c:pt idx="20">
                  <c:v>8</c:v>
                </c:pt>
                <c:pt idx="21">
                  <c:v>9</c:v>
                </c:pt>
                <c:pt idx="22">
                  <c:v>10</c:v>
                </c:pt>
                <c:pt idx="23">
                  <c:v>11</c:v>
                </c:pt>
                <c:pt idx="24">
                  <c:v>12</c:v>
                </c:pt>
              </c:strCache>
            </c: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6.1441746022147182E-6</c:v>
                </c:pt>
                <c:pt idx="1">
                  <c:v>1.6701421848095181E-5</c:v>
                </c:pt>
                <c:pt idx="2">
                  <c:v>4.5397868702434395E-5</c:v>
                </c:pt>
                <c:pt idx="3">
                  <c:v>1.2339457598623172E-4</c:v>
                </c:pt>
                <c:pt idx="4">
                  <c:v>3.3535013046647811E-4</c:v>
                </c:pt>
                <c:pt idx="5">
                  <c:v>9.1105119440064539E-4</c:v>
                </c:pt>
                <c:pt idx="6">
                  <c:v>2.4726231566347743E-3</c:v>
                </c:pt>
                <c:pt idx="7">
                  <c:v>6.6928509242848554E-3</c:v>
                </c:pt>
                <c:pt idx="8">
                  <c:v>1.7986209962091559E-2</c:v>
                </c:pt>
                <c:pt idx="9">
                  <c:v>4.7425873177566781E-2</c:v>
                </c:pt>
                <c:pt idx="10">
                  <c:v>0.11920292202211755</c:v>
                </c:pt>
                <c:pt idx="11">
                  <c:v>0.2689414213699951</c:v>
                </c:pt>
                <c:pt idx="12">
                  <c:v>0.5</c:v>
                </c:pt>
                <c:pt idx="13">
                  <c:v>0.7310585786300049</c:v>
                </c:pt>
                <c:pt idx="14">
                  <c:v>0.88079707797788231</c:v>
                </c:pt>
                <c:pt idx="15">
                  <c:v>0.95257412682243336</c:v>
                </c:pt>
                <c:pt idx="16">
                  <c:v>0.98201379003790845</c:v>
                </c:pt>
                <c:pt idx="17">
                  <c:v>0.99330714907571527</c:v>
                </c:pt>
                <c:pt idx="18">
                  <c:v>0.99752737684336534</c:v>
                </c:pt>
                <c:pt idx="19">
                  <c:v>0.9990889488055994</c:v>
                </c:pt>
                <c:pt idx="20">
                  <c:v>0.99966464986953363</c:v>
                </c:pt>
                <c:pt idx="21">
                  <c:v>0.99987660542401369</c:v>
                </c:pt>
                <c:pt idx="22">
                  <c:v>0.99995460213129761</c:v>
                </c:pt>
                <c:pt idx="23">
                  <c:v>0.99998329857815205</c:v>
                </c:pt>
                <c:pt idx="24">
                  <c:v>0.99999385582539779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9E3-4138-899D-B8D6C9FA126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VoiceGuard Calibrated (T=3.0)</c:v>
                </c:pt>
              </c:strCache>
            </c:strRef>
          </c:tx>
          <c:spPr>
            <a:ln w="31750" cap="flat">
              <a:solidFill>
                <a:srgbClr val="22A7D6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Sheet1!$A$2:$A$26</c:f>
              <c:strCache>
                <c:ptCount val="25"/>
                <c:pt idx="0">
                  <c:v>-12</c:v>
                </c:pt>
                <c:pt idx="1">
                  <c:v>-11</c:v>
                </c:pt>
                <c:pt idx="2">
                  <c:v>-10</c:v>
                </c:pt>
                <c:pt idx="3">
                  <c:v>-9</c:v>
                </c:pt>
                <c:pt idx="4">
                  <c:v>-8</c:v>
                </c:pt>
                <c:pt idx="5">
                  <c:v>-7</c:v>
                </c:pt>
                <c:pt idx="6">
                  <c:v>-6</c:v>
                </c:pt>
                <c:pt idx="7">
                  <c:v>-5</c:v>
                </c:pt>
                <c:pt idx="8">
                  <c:v>-4</c:v>
                </c:pt>
                <c:pt idx="9">
                  <c:v>-3</c:v>
                </c:pt>
                <c:pt idx="10">
                  <c:v>-2</c:v>
                </c:pt>
                <c:pt idx="11">
                  <c:v>-1</c:v>
                </c:pt>
                <c:pt idx="12">
                  <c:v>0</c:v>
                </c:pt>
                <c:pt idx="13">
                  <c:v>1</c:v>
                </c:pt>
                <c:pt idx="14">
                  <c:v>2</c:v>
                </c:pt>
                <c:pt idx="15">
                  <c:v>3</c:v>
                </c:pt>
                <c:pt idx="16">
                  <c:v>4</c:v>
                </c:pt>
                <c:pt idx="17">
                  <c:v>5</c:v>
                </c:pt>
                <c:pt idx="18">
                  <c:v>6</c:v>
                </c:pt>
                <c:pt idx="19">
                  <c:v>7</c:v>
                </c:pt>
                <c:pt idx="20">
                  <c:v>8</c:v>
                </c:pt>
                <c:pt idx="21">
                  <c:v>9</c:v>
                </c:pt>
                <c:pt idx="22">
                  <c:v>10</c:v>
                </c:pt>
                <c:pt idx="23">
                  <c:v>11</c:v>
                </c:pt>
                <c:pt idx="24">
                  <c:v>12</c:v>
                </c:pt>
              </c:strCache>
            </c:strRef>
          </c:cat>
          <c:val>
            <c:numRef>
              <c:f>Sheet1!$C$2:$C$26</c:f>
              <c:numCache>
                <c:formatCode>General</c:formatCode>
                <c:ptCount val="25"/>
                <c:pt idx="0">
                  <c:v>1.7986209962091559E-2</c:v>
                </c:pt>
                <c:pt idx="1">
                  <c:v>2.4924426647114039E-2</c:v>
                </c:pt>
                <c:pt idx="2">
                  <c:v>3.4445195666211167E-2</c:v>
                </c:pt>
                <c:pt idx="3">
                  <c:v>4.7425873177566781E-2</c:v>
                </c:pt>
                <c:pt idx="4">
                  <c:v>6.4969169128664073E-2</c:v>
                </c:pt>
                <c:pt idx="5">
                  <c:v>8.8399677207058408E-2</c:v>
                </c:pt>
                <c:pt idx="6">
                  <c:v>0.11920292202211755</c:v>
                </c:pt>
                <c:pt idx="7">
                  <c:v>0.15886910488091516</c:v>
                </c:pt>
                <c:pt idx="8">
                  <c:v>0.20860852732604496</c:v>
                </c:pt>
                <c:pt idx="9">
                  <c:v>0.2689414213699951</c:v>
                </c:pt>
                <c:pt idx="10">
                  <c:v>0.33924363123418283</c:v>
                </c:pt>
                <c:pt idx="11">
                  <c:v>0.41742979353768528</c:v>
                </c:pt>
                <c:pt idx="12">
                  <c:v>0.5</c:v>
                </c:pt>
                <c:pt idx="13">
                  <c:v>0.58257020646231472</c:v>
                </c:pt>
                <c:pt idx="14">
                  <c:v>0.66075636876581723</c:v>
                </c:pt>
                <c:pt idx="15">
                  <c:v>0.7310585786300049</c:v>
                </c:pt>
                <c:pt idx="16">
                  <c:v>0.79139147267395504</c:v>
                </c:pt>
                <c:pt idx="17">
                  <c:v>0.8411308951190849</c:v>
                </c:pt>
                <c:pt idx="18">
                  <c:v>0.88079707797788231</c:v>
                </c:pt>
                <c:pt idx="19">
                  <c:v>0.91160032279294168</c:v>
                </c:pt>
                <c:pt idx="20">
                  <c:v>0.93503083087133598</c:v>
                </c:pt>
                <c:pt idx="21">
                  <c:v>0.95257412682243336</c:v>
                </c:pt>
                <c:pt idx="22">
                  <c:v>0.96555480433378893</c:v>
                </c:pt>
                <c:pt idx="23">
                  <c:v>0.97507557335288597</c:v>
                </c:pt>
                <c:pt idx="24">
                  <c:v>0.98201379003790845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9E3-4138-899D-B8D6C9FA12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94A3B8"/>
                    </a:solidFill>
                    <a:latin typeface="Arial"/>
                  </a:defRPr>
                </a:pPr>
                <a:r>
                  <a:rPr lang="fr-FR" sz="1000" b="0" i="0" u="none" strike="noStrike">
                    <a:solidFill>
                      <a:srgbClr val="94A3B8"/>
                    </a:solidFill>
                    <a:latin typeface="Arial"/>
                  </a:rPr>
                  <a:t>Raw Neural Logit Margin Δz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1A222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94A3B8"/>
                    </a:solidFill>
                    <a:latin typeface="Arial"/>
                  </a:defRPr>
                </a:pPr>
                <a:r>
                  <a:rPr lang="en-IN" sz="1000" b="0" i="0" u="none" strike="noStrike">
                    <a:solidFill>
                      <a:srgbClr val="94A3B8"/>
                    </a:solidFill>
                    <a:latin typeface="Arial"/>
                  </a:rPr>
                  <a:t>Predicted Synthetic Probability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80B10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80B1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9296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7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2560320"/>
            <a:ext cx="7315200" cy="7315200"/>
          </a:xfrm>
          <a:prstGeom prst="ellipse">
            <a:avLst/>
          </a:prstGeom>
          <a:solidFill>
            <a:srgbClr val="22A7D6">
              <a:alpha val="9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926080" y="3657600"/>
            <a:ext cx="6400800" cy="6400800"/>
          </a:xfrm>
          <a:prstGeom prst="ellipse">
            <a:avLst/>
          </a:prstGeom>
          <a:solidFill>
            <a:srgbClr val="22A7D6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234440"/>
            <a:ext cx="2194560" cy="0"/>
          </a:xfrm>
          <a:prstGeom prst="line">
            <a:avLst/>
          </a:prstGeom>
          <a:noFill/>
          <a:ln w="25400">
            <a:solidFill>
              <a:srgbClr val="22A7D6"/>
            </a:solidFill>
            <a:prstDash val="solid"/>
          </a:ln>
        </p:spPr>
      </p:sp>
      <p:pic>
        <p:nvPicPr>
          <p:cNvPr id="5" name="Image 0" descr="/home/claude/refine2/img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463040"/>
            <a:ext cx="1051560" cy="10515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11680" y="1572768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0F6F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VoiceGuard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2057400" y="2331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50" dirty="0">
                <a:solidFill>
                  <a:srgbClr val="22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VOICE CLONE &amp; DEEPFAKE DETECTOR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32004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94A3B8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“Real Voices. A Safer Tomorrow.”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22960" y="3794760"/>
            <a:ext cx="7498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dual-engine system combining a neural sequence classifier with independent acoustic signal analysis to detect AI-cloned voices — explainably, and in real time.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22960" y="4709160"/>
            <a:ext cx="10515600" cy="0"/>
          </a:xfrm>
          <a:prstGeom prst="line">
            <a:avLst/>
          </a:prstGeom>
          <a:noFill/>
          <a:ln w="12700">
            <a:solidFill>
              <a:srgbClr val="1A222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4892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Dual-Engine Neural &amp; DSP Forensics   •   Hackathon: </a:t>
            </a:r>
            <a:r>
              <a:rPr lang="en-US" sz="1200" dirty="0" err="1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Devengers</a:t>
            </a:r>
            <a:r>
              <a:rPr lang="en-US" sz="120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2.0   •   September 2026  •  Made By Umer Khan (BE. AI&amp;DS)  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2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MOTIVATION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0F6F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Exponential Rise of AI Voice Fraud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64240" cy="0"/>
          </a:xfrm>
          <a:prstGeom prst="line">
            <a:avLst/>
          </a:prstGeom>
          <a:noFill/>
          <a:ln w="19050">
            <a:solidFill>
              <a:srgbClr val="22A7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08760"/>
            <a:ext cx="3611880" cy="4663440"/>
          </a:xfrm>
          <a:prstGeom prst="roundRect">
            <a:avLst>
              <a:gd name="adj" fmla="val 2278"/>
            </a:avLst>
          </a:prstGeom>
          <a:solidFill>
            <a:srgbClr val="121822"/>
          </a:solidFill>
          <a:ln w="15240">
            <a:solidFill>
              <a:srgbClr val="EF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1783080"/>
            <a:ext cx="457200" cy="457200"/>
          </a:xfrm>
          <a:prstGeom prst="ellipse">
            <a:avLst/>
          </a:prstGeom>
          <a:solidFill>
            <a:srgbClr val="1A222E"/>
          </a:solidFill>
          <a:ln/>
        </p:spPr>
      </p:sp>
      <p:pic>
        <p:nvPicPr>
          <p:cNvPr id="7" name="Image 0" descr="/home/claude/refine2/icons/zap_the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1883664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89888" y="17830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6F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Zero-Shot Cloning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04672" y="2423160"/>
            <a:ext cx="309981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diffusion &amp; vocoder models clone a target voice in under 3 seconds of reference audio.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04672" y="3474720"/>
            <a:ext cx="309981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like ElevenLabs, RVC, XTTS, and DiffSinger are freely available and easily weaponized.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04672" y="4526280"/>
            <a:ext cx="309981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acoustic realism makes audio deepfakes indistinguishable to human ears.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297680" y="1508760"/>
            <a:ext cx="3611880" cy="4663440"/>
          </a:xfrm>
          <a:prstGeom prst="roundRect">
            <a:avLst>
              <a:gd name="adj" fmla="val 2278"/>
            </a:avLst>
          </a:prstGeom>
          <a:solidFill>
            <a:srgbClr val="121822"/>
          </a:solidFill>
          <a:ln w="15240">
            <a:solidFill>
              <a:srgbClr val="22A7D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53712" y="1783080"/>
            <a:ext cx="457200" cy="457200"/>
          </a:xfrm>
          <a:prstGeom prst="ellipse">
            <a:avLst/>
          </a:prstGeom>
          <a:solidFill>
            <a:srgbClr val="1A222E"/>
          </a:solidFill>
          <a:ln/>
        </p:spPr>
      </p:sp>
      <p:pic>
        <p:nvPicPr>
          <p:cNvPr id="14" name="Image 1" descr="/home/claude/refine2/icons/target_the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296" y="1883664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138928" y="17830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6F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Exploited Attack Vectors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553712" y="2423160"/>
            <a:ext cx="309981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Grandparent Scams: emergency impersonation calls coercing urgent wire payments.</a:t>
            </a:r>
            <a:endParaRPr lang="en-US" sz="1150" dirty="0"/>
          </a:p>
        </p:txBody>
      </p:sp>
      <p:sp>
        <p:nvSpPr>
          <p:cNvPr id="17" name="Text 13"/>
          <p:cNvSpPr/>
          <p:nvPr/>
        </p:nvSpPr>
        <p:spPr>
          <a:xfrm>
            <a:off x="4553712" y="3474720"/>
            <a:ext cx="309981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Authorization Fraud: C-suite deepfakes authorizing fraudulent financial transfers.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4553712" y="4526280"/>
            <a:ext cx="309981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IVR Attacks: high-volume robocalls bypassing banking voice biometrics.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8046720" y="1508760"/>
            <a:ext cx="3611880" cy="4663440"/>
          </a:xfrm>
          <a:prstGeom prst="roundRect">
            <a:avLst>
              <a:gd name="adj" fmla="val 2278"/>
            </a:avLst>
          </a:prstGeom>
          <a:solidFill>
            <a:srgbClr val="121822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302752" y="1783080"/>
            <a:ext cx="457200" cy="457200"/>
          </a:xfrm>
          <a:prstGeom prst="ellipse">
            <a:avLst/>
          </a:prstGeom>
          <a:solidFill>
            <a:srgbClr val="1A222E"/>
          </a:solidFill>
          <a:ln/>
        </p:spPr>
      </p:sp>
      <p:pic>
        <p:nvPicPr>
          <p:cNvPr id="21" name="Image 2" descr="/home/claude/refine2/icons/alert_them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3336" y="1883664"/>
            <a:ext cx="256032" cy="25603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887968" y="17830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6F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Defense Gap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8302752" y="2423160"/>
            <a:ext cx="309981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Models: existing tools return arbitrary scores with zero rationale.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8302752" y="3474720"/>
            <a:ext cx="309981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Trade-offs: many services store voice prints in centralized databases.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8302752" y="4526280"/>
            <a:ext cx="3099816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need: real-time, explainable, privacy-conscious detection.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VoiceGuard Forensic Platform v2.4  •  Real Voices. A Safer Tomorrow.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/ 14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2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OVERVIEW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0F6F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Next-Generation Audio Biometric Defense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64240" cy="0"/>
          </a:xfrm>
          <a:prstGeom prst="line">
            <a:avLst/>
          </a:prstGeom>
          <a:noFill/>
          <a:ln w="19050">
            <a:solidFill>
              <a:srgbClr val="22A7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08760"/>
            <a:ext cx="5440680" cy="2331720"/>
          </a:xfrm>
          <a:prstGeom prst="roundRect">
            <a:avLst>
              <a:gd name="adj" fmla="val 3529"/>
            </a:avLst>
          </a:prstGeom>
          <a:solidFill>
            <a:srgbClr val="121822"/>
          </a:solidFill>
          <a:ln w="15240">
            <a:solidFill>
              <a:srgbClr val="22A7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783080"/>
            <a:ext cx="457200" cy="457200"/>
          </a:xfrm>
          <a:prstGeom prst="ellipse">
            <a:avLst/>
          </a:prstGeom>
          <a:solidFill>
            <a:srgbClr val="1A222E"/>
          </a:solidFill>
          <a:ln/>
        </p:spPr>
      </p:sp>
      <p:pic>
        <p:nvPicPr>
          <p:cNvPr id="7" name="Image 0" descr="/home/claude/refine2/icons/layers_the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" y="1883664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78308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6F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Dual-Engine Fusion Core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2423160"/>
            <a:ext cx="48920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deep latent sequence classification (Wav2Vec2) with physical acoustic signal processing (Librosa) to uncover microscopic vocoder artifacts invisible to human ears.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72200" y="1508760"/>
            <a:ext cx="5440680" cy="2331720"/>
          </a:xfrm>
          <a:prstGeom prst="roundRect">
            <a:avLst>
              <a:gd name="adj" fmla="val 3529"/>
            </a:avLst>
          </a:prstGeom>
          <a:solidFill>
            <a:srgbClr val="121822"/>
          </a:solidFill>
          <a:ln w="15240">
            <a:solidFill>
              <a:srgbClr val="22A7D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46520" y="1783080"/>
            <a:ext cx="457200" cy="457200"/>
          </a:xfrm>
          <a:prstGeom prst="ellipse">
            <a:avLst/>
          </a:prstGeom>
          <a:solidFill>
            <a:srgbClr val="1A222E"/>
          </a:solidFill>
          <a:ln/>
        </p:spPr>
      </p:sp>
      <p:pic>
        <p:nvPicPr>
          <p:cNvPr id="12" name="Image 1" descr="/home/claude/refine2/icons/barchart_the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104" y="1883664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040880" y="178308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6F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Calibrated Continuous Confidence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446520" y="2423160"/>
            <a:ext cx="48920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logit temperature scaling (T = 3.0) to eliminate artificial 100% saturation, producing honest, fluctuating confidence that reflects true channel conditions.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4023360"/>
            <a:ext cx="5440680" cy="2331720"/>
          </a:xfrm>
          <a:prstGeom prst="roundRect">
            <a:avLst>
              <a:gd name="adj" fmla="val 3529"/>
            </a:avLst>
          </a:prstGeom>
          <a:solidFill>
            <a:srgbClr val="121822"/>
          </a:solidFill>
          <a:ln w="15240">
            <a:solidFill>
              <a:srgbClr val="22A7D6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22960" y="4297680"/>
            <a:ext cx="457200" cy="457200"/>
          </a:xfrm>
          <a:prstGeom prst="ellipse">
            <a:avLst/>
          </a:prstGeom>
          <a:solidFill>
            <a:srgbClr val="1A222E"/>
          </a:solidFill>
          <a:ln/>
        </p:spPr>
      </p:sp>
      <p:pic>
        <p:nvPicPr>
          <p:cNvPr id="17" name="Image 2" descr="/home/claude/refine2/icons/zap_them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544" y="4398264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17320" y="429768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6F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Dual Real-Time Modes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22960" y="4937760"/>
            <a:ext cx="48920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A: multi-format file analyzer (WAV, MP3, M4A, FLAC). Mode B: sub-second live microphone streaming via WebSockets with rolling temporal consensus.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172200" y="4023360"/>
            <a:ext cx="5440680" cy="2331720"/>
          </a:xfrm>
          <a:prstGeom prst="roundRect">
            <a:avLst>
              <a:gd name="adj" fmla="val 3529"/>
            </a:avLst>
          </a:prstGeom>
          <a:solidFill>
            <a:srgbClr val="121822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446520" y="4297680"/>
            <a:ext cx="457200" cy="457200"/>
          </a:xfrm>
          <a:prstGeom prst="ellipse">
            <a:avLst/>
          </a:prstGeom>
          <a:solidFill>
            <a:srgbClr val="1A222E"/>
          </a:solidFill>
          <a:ln/>
        </p:spPr>
      </p:sp>
      <p:pic>
        <p:nvPicPr>
          <p:cNvPr id="22" name="Image 3" descr="/home/claude/refine2/icons/lock_them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7104" y="4398264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040880" y="429768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6F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Privacy-Conscious By Design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6446520" y="4937760"/>
            <a:ext cx="48920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is processed in ephemeral memory and not persisted server-side. Analysis history stays local to the user's browser.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VoiceGuard Forensic Platform v2.4  •  Real Voices. A Safer Tomorrow.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/ 14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2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&amp; PIPELINE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0F6F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Dual-Engine Pipeline Architecture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64240" cy="0"/>
          </a:xfrm>
          <a:prstGeom prst="line">
            <a:avLst/>
          </a:prstGeom>
          <a:noFill/>
          <a:ln w="19050">
            <a:solidFill>
              <a:srgbClr val="22A7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331720"/>
            <a:ext cx="1691640" cy="1005840"/>
          </a:xfrm>
          <a:prstGeom prst="roundRect">
            <a:avLst>
              <a:gd name="adj" fmla="val 8182"/>
            </a:avLst>
          </a:prstGeom>
          <a:solidFill>
            <a:srgbClr val="121822"/>
          </a:solidFill>
          <a:ln w="15240">
            <a:solidFill>
              <a:srgbClr val="22A7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46888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Input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or Live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 Stream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23160" y="2331720"/>
            <a:ext cx="1828800" cy="1005840"/>
          </a:xfrm>
          <a:prstGeom prst="roundRect">
            <a:avLst>
              <a:gd name="adj" fmla="val 8182"/>
            </a:avLst>
          </a:prstGeom>
          <a:solidFill>
            <a:srgbClr val="121822"/>
          </a:solidFill>
          <a:ln w="15240">
            <a:solidFill>
              <a:srgbClr val="22A7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23160" y="24505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23160" y="277063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16kHz mono • peak norm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 silence gating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40280" y="2331720"/>
            <a:ext cx="228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0" y="1691640"/>
            <a:ext cx="2331720" cy="960120"/>
          </a:xfrm>
          <a:prstGeom prst="roundRect">
            <a:avLst>
              <a:gd name="adj" fmla="val 8571"/>
            </a:avLst>
          </a:prstGeom>
          <a:solidFill>
            <a:srgbClr val="121822"/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7830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Classifier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0" y="207568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Wav2Vec2 • Latent Manifold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Scaling (T=3.0)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0" y="3017520"/>
            <a:ext cx="2331720" cy="960120"/>
          </a:xfrm>
          <a:prstGeom prst="roundRect">
            <a:avLst>
              <a:gd name="adj" fmla="val 8571"/>
            </a:avLst>
          </a:prstGeom>
          <a:solidFill>
            <a:srgbClr val="121822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31089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 DSP Heuristics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0" y="3401568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Librosa • Pitch Jitter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Flatness • Pause Ratio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251960" y="2468880"/>
            <a:ext cx="320040" cy="0"/>
          </a:xfrm>
          <a:prstGeom prst="line">
            <a:avLst/>
          </a:prstGeom>
          <a:noFill/>
          <a:ln w="15240">
            <a:solidFill>
              <a:srgbClr val="5B6B7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51960" y="3200400"/>
            <a:ext cx="320040" cy="297180"/>
          </a:xfrm>
          <a:prstGeom prst="line">
            <a:avLst/>
          </a:prstGeom>
          <a:noFill/>
          <a:ln w="15240">
            <a:solidFill>
              <a:srgbClr val="5B6B7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0" y="2331720"/>
            <a:ext cx="2148840" cy="1005840"/>
          </a:xfrm>
          <a:prstGeom prst="roundRect">
            <a:avLst>
              <a:gd name="adj" fmla="val 8182"/>
            </a:avLst>
          </a:prstGeom>
          <a:solidFill>
            <a:srgbClr val="121822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2441448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Fusion Core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315200" y="2770632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0.75M + 0.25H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Telemetry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903720" y="2171700"/>
            <a:ext cx="411480" cy="662940"/>
          </a:xfrm>
          <a:prstGeom prst="line">
            <a:avLst/>
          </a:prstGeom>
          <a:noFill/>
          <a:ln w="15240">
            <a:solidFill>
              <a:srgbClr val="5B6B7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6903720" y="2880360"/>
            <a:ext cx="411480" cy="617220"/>
          </a:xfrm>
          <a:prstGeom prst="line">
            <a:avLst/>
          </a:prstGeom>
          <a:noFill/>
          <a:ln w="15240">
            <a:solidFill>
              <a:srgbClr val="5B6B7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692640" y="2331720"/>
            <a:ext cx="1920240" cy="1005840"/>
          </a:xfrm>
          <a:prstGeom prst="roundRect">
            <a:avLst>
              <a:gd name="adj" fmla="val 8182"/>
            </a:avLst>
          </a:prstGeom>
          <a:solidFill>
            <a:srgbClr val="121822"/>
          </a:solidFill>
          <a:ln w="15240">
            <a:solidFill>
              <a:srgbClr val="22A7D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92640" y="24505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Output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692640" y="277063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+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Report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464040" y="2331720"/>
            <a:ext cx="182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48640" y="4389120"/>
            <a:ext cx="11064240" cy="1600200"/>
          </a:xfrm>
          <a:prstGeom prst="roundRect">
            <a:avLst>
              <a:gd name="adj" fmla="val 5143"/>
            </a:avLst>
          </a:prstGeom>
          <a:solidFill>
            <a:srgbClr val="121822"/>
          </a:solidFill>
          <a:ln w="15240">
            <a:solidFill>
              <a:srgbClr val="1A22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455371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Preprocessing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2960" y="489204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16kHz mono conversion, peak normalization, VAD silence gating.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434840" y="455371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A (Neural)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434840" y="489204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Wav2Vec2 sequence model extracting latent temporal embeddings.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046720" y="4553712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B (DSP)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046720" y="4892040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Librosa signal chain checking pitch jitter, spectral flatness, respiration.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VoiceGuard Forensic Platform v2.4  •  Real Voices. A Safer Tomorrow.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/ 14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2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CORE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0F6F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Engine A: Pretrained Neural Sequence Classification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64240" cy="0"/>
          </a:xfrm>
          <a:prstGeom prst="line">
            <a:avLst/>
          </a:prstGeom>
          <a:noFill/>
          <a:ln w="19050">
            <a:solidFill>
              <a:srgbClr val="22A7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08760"/>
            <a:ext cx="5440680" cy="4617720"/>
          </a:xfrm>
          <a:prstGeom prst="roundRect">
            <a:avLst>
              <a:gd name="adj" fmla="val 1782"/>
            </a:avLst>
          </a:prstGeom>
          <a:solidFill>
            <a:srgbClr val="121822"/>
          </a:solidFill>
          <a:ln w="15240">
            <a:solidFill>
              <a:srgbClr val="22A7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64792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6F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Wav2Vec2 Architecture &amp; Pretraining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286000"/>
            <a:ext cx="489204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Model: MelodyMachine/Deepfake-audio-detection-V2.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Self-Supervised Audio Representations trained on real and synthetic voice clones.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Latent Embedding Analysis exposes phase inconsistencies and vocoder harmonic dispersion.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Cross-Entropy Logit Margins produce a raw differential Δz = z_synthetic − z_real.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508760"/>
            <a:ext cx="5440680" cy="4617720"/>
          </a:xfrm>
          <a:prstGeom prst="roundRect">
            <a:avLst>
              <a:gd name="adj" fmla="val 1782"/>
            </a:avLst>
          </a:prstGeom>
          <a:solidFill>
            <a:srgbClr val="121822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6520" y="1764792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6F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Why A Transformer Alone Isn't Enough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46520" y="2286000"/>
            <a:ext cx="489204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Out-of-Distribution Risk: novel, unseen vocoder architectures can evade classifiers trained on older TTS datasets.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Distortion Bias: microphone clipping, phone compression (AMR-WB), and app codecs introduce artifacts that confuse pure neural models.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VoiceGuard Countermeasure: Engine A's latent inference is cross-validated against physical acoustic invariants (Engine B) for added resilience.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VoiceGuard Forensic Platform v2.4  •  Real Voices. A Safer Tomorrow.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/ 14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2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ACOUSTICS &amp; EXPLAINABILITY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0F6F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Engine B: Mathematical Acoustic Invariants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64240" cy="0"/>
          </a:xfrm>
          <a:prstGeom prst="line">
            <a:avLst/>
          </a:prstGeom>
          <a:noFill/>
          <a:ln w="19050">
            <a:solidFill>
              <a:srgbClr val="22A7D6"/>
            </a:solidFill>
            <a:prstDash val="solid"/>
          </a:ln>
        </p:spPr>
      </p:sp>
      <p:graphicFrame>
        <p:nvGraphicFramePr>
          <p:cNvPr id="5" name="Chart 0"/>
          <p:cNvGraphicFramePr/>
          <p:nvPr/>
        </p:nvGraphicFramePr>
        <p:xfrm>
          <a:off x="548640" y="1508760"/>
          <a:ext cx="630936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086600" y="1508760"/>
            <a:ext cx="4526280" cy="4526280"/>
          </a:xfrm>
          <a:prstGeom prst="roundRect">
            <a:avLst>
              <a:gd name="adj" fmla="val 1818"/>
            </a:avLst>
          </a:prstGeom>
          <a:solidFill>
            <a:srgbClr val="121822"/>
          </a:solidFill>
          <a:ln w="15240">
            <a:solidFill>
              <a:srgbClr val="22A7D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60920" y="1691640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6F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 Physiological Acoustic Invariants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60920" y="2121408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Laryngeal Pitch Jitter (F0)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360920" y="2395728"/>
            <a:ext cx="3977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 vocal folds show micro-frequency variation. Neural vocoders generate unnaturally rigid pitch (&lt; 0.018).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360920" y="310896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Spectral Flatness (Wiener Entropy)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360920" y="3383280"/>
            <a:ext cx="3977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formant resonance vs. white-noise floor. Diffusion vocoders show elevated flatness (&gt; 0.035).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360920" y="409651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Respiration &amp; Silence Cadence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360920" y="4370832"/>
            <a:ext cx="3977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Biological speakers pause for breath (30–50% silence). Synthetic speech often lacks breathing intervals (&lt; 10%).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360920" y="5084064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Spectral Centroid Mass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360920" y="5358384"/>
            <a:ext cx="39776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anatomical vocal-tract resonance against artificial frequency roll-off.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VoiceGuard Forensic Platform v2.4  •  Real Voices. A Safer Tomorrow.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/ 14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2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CALIBRATION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0F6F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Continuous Confidence vs. False 100% Saturation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64240" cy="0"/>
          </a:xfrm>
          <a:prstGeom prst="line">
            <a:avLst/>
          </a:prstGeom>
          <a:noFill/>
          <a:ln w="19050">
            <a:solidFill>
              <a:srgbClr val="22A7D6"/>
            </a:solidFill>
            <a:prstDash val="solid"/>
          </a:ln>
        </p:spPr>
      </p:sp>
      <p:graphicFrame>
        <p:nvGraphicFramePr>
          <p:cNvPr id="5" name="Chart 0"/>
          <p:cNvGraphicFramePr/>
          <p:nvPr/>
        </p:nvGraphicFramePr>
        <p:xfrm>
          <a:off x="548640" y="1508760"/>
          <a:ext cx="6309360" cy="4526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086600" y="1508760"/>
            <a:ext cx="4526280" cy="4526280"/>
          </a:xfrm>
          <a:prstGeom prst="roundRect">
            <a:avLst>
              <a:gd name="adj" fmla="val 1818"/>
            </a:avLst>
          </a:prstGeom>
          <a:solidFill>
            <a:srgbClr val="121822"/>
          </a:solidFill>
          <a:ln w="15240">
            <a:solidFill>
              <a:srgbClr val="22A7D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60920" y="173736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0F6F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Logit Temperature Scaling (T = 3.0)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360920" y="2240280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360920" y="2560320"/>
            <a:ext cx="3977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sequence models output large logit margins (|Δz| &gt; 10). At T=1.0, standard softmax saturates at 0.99998, falsely displaying “100% AI.”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360920" y="3337560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360920" y="3657600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σ( (z1 − z0) / 3.0 )  —  temperature scaling softens overconfident logits without altering decision boundaries.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360920" y="4343400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360920" y="4663440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fake_1.wav: 97.5% Synthetic (not 100%)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real_1.wav: 95.8% Human (4.2% AI)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Mic: honest, fluctuating decimals.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VoiceGuard Forensic Platform v2.4  •  Real Voices. A Safer Tomorrow.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/ 14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2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EXPERIENCE &amp; FORENSIC WORKSTATION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0F6F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Professional Cyber-Forensic Interface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64240" cy="0"/>
          </a:xfrm>
          <a:prstGeom prst="line">
            <a:avLst/>
          </a:prstGeom>
          <a:noFill/>
          <a:ln w="19050">
            <a:solidFill>
              <a:srgbClr val="22A7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08760"/>
            <a:ext cx="11064240" cy="3200400"/>
          </a:xfrm>
          <a:prstGeom prst="roundRect">
            <a:avLst>
              <a:gd name="adj" fmla="val 2571"/>
            </a:avLst>
          </a:prstGeom>
          <a:solidFill>
            <a:srgbClr val="121822"/>
          </a:solidFill>
          <a:ln w="15240">
            <a:solidFill>
              <a:srgbClr val="1A222E"/>
            </a:solidFill>
            <a:prstDash val="solid"/>
          </a:ln>
        </p:spPr>
      </p:sp>
      <p:pic>
        <p:nvPicPr>
          <p:cNvPr id="6" name="Image 0" descr="/home/claude/refine2/img/dashboard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5516" y="1645920"/>
            <a:ext cx="6190488" cy="29260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4892040"/>
            <a:ext cx="5440680" cy="1234440"/>
          </a:xfrm>
          <a:prstGeom prst="roundRect">
            <a:avLst>
              <a:gd name="adj" fmla="val 6667"/>
            </a:avLst>
          </a:prstGeom>
          <a:solidFill>
            <a:srgbClr val="121822"/>
          </a:solidFill>
          <a:ln w="15240">
            <a:solidFill>
              <a:srgbClr val="22A7D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5056632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0F6F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Overview &amp; Audio Benchmark Picker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77240" y="5394960"/>
            <a:ext cx="4983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access to bundled reference audio clips (real vs. fake pairs) enabling zero-setup model validation and demonstration.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172200" y="4892040"/>
            <a:ext cx="5440680" cy="1234440"/>
          </a:xfrm>
          <a:prstGeom prst="roundRect">
            <a:avLst>
              <a:gd name="adj" fmla="val 6667"/>
            </a:avLst>
          </a:prstGeom>
          <a:solidFill>
            <a:srgbClr val="121822"/>
          </a:solidFill>
          <a:ln w="15240">
            <a:solidFill>
              <a:srgbClr val="22A7D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0" y="5056632"/>
            <a:ext cx="4983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0F6F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Live Forensic Analysis Log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400800" y="5394960"/>
            <a:ext cx="4983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analyzed file is logged with signal type, verdict, and calibrated confidence — fully auditable inspection history.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VoiceGuard Forensic Platform v2.4  •  Real Voices. A Safer Tomorrow.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/ 14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2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STREAMING ENGINE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0F6F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Live Microphone Streaming &amp; Dynamic Evaluation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64240" cy="0"/>
          </a:xfrm>
          <a:prstGeom prst="line">
            <a:avLst/>
          </a:prstGeom>
          <a:noFill/>
          <a:ln w="19050">
            <a:solidFill>
              <a:srgbClr val="22A7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08760"/>
            <a:ext cx="11064240" cy="3429000"/>
          </a:xfrm>
          <a:prstGeom prst="roundRect">
            <a:avLst>
              <a:gd name="adj" fmla="val 2400"/>
            </a:avLst>
          </a:prstGeom>
          <a:solidFill>
            <a:srgbClr val="121822"/>
          </a:solidFill>
          <a:ln w="15240">
            <a:solidFill>
              <a:srgbClr val="1A22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50749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121822"/>
          </a:solidFill>
          <a:ln w="15240">
            <a:solidFill>
              <a:srgbClr val="22A7D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5202936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F6F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Sub-Second Rolling WebSockets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5477256"/>
            <a:ext cx="4983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16kHz audio in 1.5s windows, renders live waveforms, and filters ambient noise via VAD energy thresholding.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172200" y="5074920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121822"/>
          </a:solidFill>
          <a:ln w="15240">
            <a:solidFill>
              <a:srgbClr val="22A7D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0" y="5202936"/>
            <a:ext cx="4983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0F6F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Dynamic Post-Stream Summary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400800" y="5477256"/>
            <a:ext cx="4983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Stopping the stream evaluates total slices, agreement percentage, and vocal-cord jitter into an actionable summary.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VoiceGuard Forensic Platform v2.4  •  Real Voices. A Safer Tomorrow.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 / 14</a:t>
            </a:r>
            <a:endParaRPr lang="en-US" sz="9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31F3754-A16E-9243-D057-4952E24DEF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7925" y="1572769"/>
            <a:ext cx="6556075" cy="3234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2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&amp; RECORDKEEPING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0F6F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Exportable Forensic Summary Reports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64240" cy="0"/>
          </a:xfrm>
          <a:prstGeom prst="line">
            <a:avLst/>
          </a:prstGeom>
          <a:noFill/>
          <a:ln w="19050">
            <a:solidFill>
              <a:srgbClr val="22A7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08760"/>
            <a:ext cx="11064240" cy="2103120"/>
          </a:xfrm>
          <a:prstGeom prst="roundRect">
            <a:avLst>
              <a:gd name="adj" fmla="val 3913"/>
            </a:avLst>
          </a:prstGeom>
          <a:solidFill>
            <a:srgbClr val="121822"/>
          </a:solidFill>
          <a:ln w="15240">
            <a:solidFill>
              <a:srgbClr val="1A22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3794760"/>
            <a:ext cx="3611880" cy="2331720"/>
          </a:xfrm>
          <a:prstGeom prst="roundRect">
            <a:avLst>
              <a:gd name="adj" fmla="val 3529"/>
            </a:avLst>
          </a:prstGeom>
          <a:solidFill>
            <a:srgbClr val="121822"/>
          </a:solidFill>
          <a:ln w="15240">
            <a:solidFill>
              <a:srgbClr val="22A7D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4023360"/>
            <a:ext cx="457200" cy="457200"/>
          </a:xfrm>
          <a:prstGeom prst="ellipse">
            <a:avLst/>
          </a:prstGeom>
          <a:solidFill>
            <a:srgbClr val="1A222E"/>
          </a:solidFill>
          <a:ln/>
        </p:spPr>
      </p:sp>
      <p:pic>
        <p:nvPicPr>
          <p:cNvPr id="9" name="Image 1" descr="/home/claude/refine2/icons/lock_the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4123944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77240" y="45720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6F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Tamper-Evident Hashing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777240" y="5029200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exported report includes a client-side SHA-256 checksum of the source audio, so any later modification is detectable.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297680" y="3794760"/>
            <a:ext cx="3611880" cy="2331720"/>
          </a:xfrm>
          <a:prstGeom prst="roundRect">
            <a:avLst>
              <a:gd name="adj" fmla="val 3529"/>
            </a:avLst>
          </a:prstGeom>
          <a:solidFill>
            <a:srgbClr val="121822"/>
          </a:solidFill>
          <a:ln w="15240">
            <a:solidFill>
              <a:srgbClr val="22A7D6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526280" y="4023360"/>
            <a:ext cx="457200" cy="457200"/>
          </a:xfrm>
          <a:prstGeom prst="ellipse">
            <a:avLst/>
          </a:prstGeom>
          <a:solidFill>
            <a:srgbClr val="1A222E"/>
          </a:solidFill>
          <a:ln/>
        </p:spPr>
      </p:sp>
      <p:pic>
        <p:nvPicPr>
          <p:cNvPr id="14" name="Image 2" descr="/home/claude/refine2/icons/filetext_the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6864" y="4123944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526280" y="45720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6F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Complete Metric Table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4526280" y="5029200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exact values for pitch jitter, spectral flatness, and silence ratio alongside the verdict — not just a bare score.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8046720" y="3794760"/>
            <a:ext cx="3611880" cy="2331720"/>
          </a:xfrm>
          <a:prstGeom prst="roundRect">
            <a:avLst>
              <a:gd name="adj" fmla="val 3529"/>
            </a:avLst>
          </a:prstGeom>
          <a:solidFill>
            <a:srgbClr val="121822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8275320" y="4023360"/>
            <a:ext cx="457200" cy="457200"/>
          </a:xfrm>
          <a:prstGeom prst="ellipse">
            <a:avLst/>
          </a:prstGeom>
          <a:solidFill>
            <a:srgbClr val="1A222E"/>
          </a:solidFill>
          <a:ln/>
        </p:spPr>
      </p:sp>
      <p:pic>
        <p:nvPicPr>
          <p:cNvPr id="19" name="Image 3" descr="/home/claude/refine2/icons/check_them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5904" y="4123944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275320" y="45720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6F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Shareable, Not Certified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8275320" y="5029200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are a useful audit trail for internal review. They are not a certified or legally admissible forensic instrument without independent validation.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VoiceGuard Forensic Platform v2.4  •  Real Voices. A Safer Tomorrow.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 / 14</a:t>
            </a:r>
            <a:endParaRPr lang="en-US" sz="95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E791F840-84FD-72C2-4D7E-0E8CF2CBB2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7395" y="1545070"/>
            <a:ext cx="4206240" cy="202109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4C09EBB9-0D8B-76D6-981A-D5E9788C3F8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74109" y="1586085"/>
            <a:ext cx="1808506" cy="189724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9A67998D-0B13-D648-F9E7-A83BFF7359E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07713" y="1579827"/>
            <a:ext cx="1808506" cy="189724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2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&amp; TESTING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0F6F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Empirical Benchmark Evaluation Results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64240" cy="0"/>
          </a:xfrm>
          <a:prstGeom prst="line">
            <a:avLst/>
          </a:prstGeom>
          <a:noFill/>
          <a:ln w="19050">
            <a:solidFill>
              <a:srgbClr val="22A7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11064240" cy="457200"/>
          </a:xfrm>
          <a:prstGeom prst="roundRect">
            <a:avLst>
              <a:gd name="adj" fmla="val 8000"/>
            </a:avLst>
          </a:prstGeom>
          <a:solidFill>
            <a:srgbClr val="0E253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544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ID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377440" y="1554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File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80560" y="15544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0" y="15544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Label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052560" y="15544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Confidence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011680"/>
            <a:ext cx="11064240" cy="548640"/>
          </a:xfrm>
          <a:prstGeom prst="rect">
            <a:avLst/>
          </a:prstGeom>
          <a:solidFill>
            <a:srgbClr val="121822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0116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BENCH-01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377440" y="20116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real_1.wav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480560" y="20116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 Human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0" y="20116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Voice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052560" y="201168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95.8% Authenticity (4.2% AI)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25603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BENCH-02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377440" y="25603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real_2.wav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480560" y="25603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 Human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0" y="25603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Voice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052560" y="25603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97.4% Authenticity (2.6% AI)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108960"/>
            <a:ext cx="11064240" cy="548640"/>
          </a:xfrm>
          <a:prstGeom prst="rect">
            <a:avLst/>
          </a:prstGeom>
          <a:solidFill>
            <a:srgbClr val="121822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1089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BENCH-03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377440" y="31089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fake_1.wav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480560" y="31089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 Neural Clone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58000" y="31089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052560" y="31089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97.5% Synthetic Probability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1520" y="36576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BENCH-04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2377440" y="3657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fake_2.wav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480560" y="36576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RVC Voice Conversion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858000" y="365760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052560" y="36576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97.5% Synthetic Probability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4526280"/>
            <a:ext cx="11064240" cy="1417320"/>
          </a:xfrm>
          <a:prstGeom prst="roundRect">
            <a:avLst>
              <a:gd name="adj" fmla="val 5806"/>
            </a:avLst>
          </a:prstGeom>
          <a:solidFill>
            <a:srgbClr val="121822"/>
          </a:solidFill>
          <a:ln w="15240">
            <a:solidFill>
              <a:srgbClr val="22A7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960" y="46634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6F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Empirical Takeaways &amp; Latency Metrics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22960" y="5029200"/>
            <a:ext cx="1042416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Divergence Margin: &gt; 90% confidence separation between genuine and deepfake audio in this test set.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Latency: &lt; 1.2 seconds for full 15s audio files; ~180ms rolling latency for live streaming chunks.</a:t>
            </a:r>
            <a:endParaRPr lang="en-US" sz="1150" dirty="0"/>
          </a:p>
          <a:p>
            <a:pPr marL="342900" indent="-3429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Robustness: VAD thresholding prevents ambient room silence from falsely triggering synthetic alerts.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VoiceGuard Forensic Platform v2.4  •  Real Voices. A Safer Tomorrow.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 / 14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2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DATA HANDLING APPROACH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0F6F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Privacy-Conscious Design Principles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64240" cy="0"/>
          </a:xfrm>
          <a:prstGeom prst="line">
            <a:avLst/>
          </a:prstGeom>
          <a:noFill/>
          <a:ln w="19050">
            <a:solidFill>
              <a:srgbClr val="22A7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08760"/>
            <a:ext cx="3611880" cy="4617720"/>
          </a:xfrm>
          <a:prstGeom prst="roundRect">
            <a:avLst>
              <a:gd name="adj" fmla="val 2278"/>
            </a:avLst>
          </a:prstGeom>
          <a:solidFill>
            <a:srgbClr val="121822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1783080"/>
            <a:ext cx="457200" cy="457200"/>
          </a:xfrm>
          <a:prstGeom prst="ellipse">
            <a:avLst/>
          </a:prstGeom>
          <a:solidFill>
            <a:srgbClr val="1A222E"/>
          </a:solidFill>
          <a:ln/>
        </p:spPr>
      </p:sp>
      <p:pic>
        <p:nvPicPr>
          <p:cNvPr id="7" name="Image 0" descr="/home/claude/refine2/icons/shield_the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1883664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89888" y="17830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0F6F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RAM-Only Execution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04672" y="2468880"/>
            <a:ext cx="309981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Ephemeral Audio Buffers: voice data received via REST or WebSocket exists strictly in volatile memory during feature extraction.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04672" y="3931920"/>
            <a:ext cx="309981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Disk Persistence: audio buffers are released after score computation — not saved to server disk.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297680" y="1508760"/>
            <a:ext cx="3611880" cy="4617720"/>
          </a:xfrm>
          <a:prstGeom prst="roundRect">
            <a:avLst>
              <a:gd name="adj" fmla="val 2278"/>
            </a:avLst>
          </a:prstGeom>
          <a:solidFill>
            <a:srgbClr val="121822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53712" y="1783080"/>
            <a:ext cx="457200" cy="457200"/>
          </a:xfrm>
          <a:prstGeom prst="ellipse">
            <a:avLst/>
          </a:prstGeom>
          <a:solidFill>
            <a:srgbClr val="1A222E"/>
          </a:solidFill>
          <a:ln/>
        </p:spPr>
      </p:sp>
      <p:pic>
        <p:nvPicPr>
          <p:cNvPr id="13" name="Image 1" descr="/home/claude/refine2/icons/smartphone_the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296" y="1883664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38928" y="17830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0F6F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Local-First Storage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4553712" y="2468880"/>
            <a:ext cx="309981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Persistence: analysis histories and report metadata are stored in the user's own browser (localStorage).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4553712" y="3931920"/>
            <a:ext cx="309981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Data Custody: users can clear their local history at any time.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8046720" y="1508760"/>
            <a:ext cx="3611880" cy="4617720"/>
          </a:xfrm>
          <a:prstGeom prst="roundRect">
            <a:avLst>
              <a:gd name="adj" fmla="val 2278"/>
            </a:avLst>
          </a:prstGeom>
          <a:solidFill>
            <a:srgbClr val="121822"/>
          </a:solidFill>
          <a:ln w="15240">
            <a:solidFill>
              <a:srgbClr val="10B981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302752" y="1783080"/>
            <a:ext cx="457200" cy="457200"/>
          </a:xfrm>
          <a:prstGeom prst="ellipse">
            <a:avLst/>
          </a:prstGeom>
          <a:solidFill>
            <a:srgbClr val="1A222E"/>
          </a:solidFill>
          <a:ln/>
        </p:spPr>
      </p:sp>
      <p:pic>
        <p:nvPicPr>
          <p:cNvPr id="19" name="Image 2" descr="/home/claude/refine2/icons/eye_them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3336" y="188366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887968" y="17830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0F6F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Privacy-Minded, Not Certified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8302752" y="2468880"/>
            <a:ext cx="309981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principles are informed by GDPR and CCPA thinking around data minimization.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8302752" y="3931920"/>
            <a:ext cx="309981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an engineering design choice, not a formal legal or regulatory certification — that would require independent audit.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VoiceGuard Forensic Platform v2.4  •  Real Voices. A Safer Tomorrow.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12 / 14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2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VECTORS &amp; HORIZON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0F6F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Future Roadmap &amp; Enterprise Expansion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11064240" cy="0"/>
          </a:xfrm>
          <a:prstGeom prst="line">
            <a:avLst/>
          </a:prstGeom>
          <a:noFill/>
          <a:ln w="19050">
            <a:solidFill>
              <a:srgbClr val="22A7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08760"/>
            <a:ext cx="3611880" cy="4617720"/>
          </a:xfrm>
          <a:prstGeom prst="roundRect">
            <a:avLst>
              <a:gd name="adj" fmla="val 2278"/>
            </a:avLst>
          </a:prstGeom>
          <a:solidFill>
            <a:srgbClr val="121822"/>
          </a:solidFill>
          <a:ln w="15240">
            <a:solidFill>
              <a:srgbClr val="22A7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1783080"/>
            <a:ext cx="457200" cy="457200"/>
          </a:xfrm>
          <a:prstGeom prst="ellipse">
            <a:avLst/>
          </a:prstGeom>
          <a:solidFill>
            <a:srgbClr val="1A222E"/>
          </a:solidFill>
          <a:ln/>
        </p:spPr>
      </p:sp>
      <p:pic>
        <p:nvPicPr>
          <p:cNvPr id="7" name="Image 0" descr="/home/claude/refine2/icons/wifi_the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1883664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89888" y="17830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0F6F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Browser Extension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04672" y="2468880"/>
            <a:ext cx="309981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 Call Defense: background audio listener for Google Meet, Zoom, and WhatsApp Web.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04672" y="3931920"/>
            <a:ext cx="309981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Visual Alerts: heads-up warning when a synthetic voice is detected in a live video conference.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297680" y="1508760"/>
            <a:ext cx="3611880" cy="4617720"/>
          </a:xfrm>
          <a:prstGeom prst="roundRect">
            <a:avLst>
              <a:gd name="adj" fmla="val 2278"/>
            </a:avLst>
          </a:prstGeom>
          <a:solidFill>
            <a:srgbClr val="121822"/>
          </a:solidFill>
          <a:ln w="15240">
            <a:solidFill>
              <a:srgbClr val="22A7D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53712" y="1783080"/>
            <a:ext cx="457200" cy="457200"/>
          </a:xfrm>
          <a:prstGeom prst="ellipse">
            <a:avLst/>
          </a:prstGeom>
          <a:solidFill>
            <a:srgbClr val="1A222E"/>
          </a:solidFill>
          <a:ln/>
        </p:spPr>
      </p:sp>
      <p:pic>
        <p:nvPicPr>
          <p:cNvPr id="13" name="Image 1" descr="/home/claude/refine2/icons/phone_the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296" y="1883664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38928" y="17830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0F6F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Telephony PBX Bridge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4553712" y="2468880"/>
            <a:ext cx="309981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Call-Center SIP/RTP Bridge: integration with enterprise VoIP PBX networks (Twilio, Asterisk).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4553712" y="3931920"/>
            <a:ext cx="309981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Call Risk Scoring: automated synthetic score generated before agents authenticate high-value transactions.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8046720" y="1508760"/>
            <a:ext cx="3611880" cy="4617720"/>
          </a:xfrm>
          <a:prstGeom prst="roundRect">
            <a:avLst>
              <a:gd name="adj" fmla="val 2278"/>
            </a:avLst>
          </a:prstGeom>
          <a:solidFill>
            <a:srgbClr val="121822"/>
          </a:solidFill>
          <a:ln w="15240">
            <a:solidFill>
              <a:srgbClr val="22A7D6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302752" y="1783080"/>
            <a:ext cx="457200" cy="457200"/>
          </a:xfrm>
          <a:prstGeom prst="ellipse">
            <a:avLst/>
          </a:prstGeom>
          <a:solidFill>
            <a:srgbClr val="1A222E"/>
          </a:solidFill>
          <a:ln/>
        </p:spPr>
      </p:sp>
      <p:pic>
        <p:nvPicPr>
          <p:cNvPr id="19" name="Image 2" descr="/home/claude/refine2/icons/layers_them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3336" y="188366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887968" y="17830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0F6F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Multi-Model Ensemble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8302752" y="2468880"/>
            <a:ext cx="309981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Phoneme Durations: measuring neural TTS cadence against natural human phoneme timing.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8302752" y="3931920"/>
            <a:ext cx="3099816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Self-Supervised AASIST: spectral graph attention fusion for extreme lossy audio conditions.</a:t>
            </a:r>
            <a:endParaRPr lang="en-US" sz="1150" dirty="0"/>
          </a:p>
        </p:txBody>
      </p:sp>
      <p:sp>
        <p:nvSpPr>
          <p:cNvPr id="23" name="Text 18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VoiceGuard Forensic Platform v2.4  •  Real Voices. A Safer Tomorrow.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13 / 14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0B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560320" y="2926080"/>
            <a:ext cx="6858000" cy="6858000"/>
          </a:xfrm>
          <a:prstGeom prst="ellipse">
            <a:avLst/>
          </a:prstGeom>
          <a:solidFill>
            <a:srgbClr val="22A7D6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-2743200"/>
            <a:ext cx="6400800" cy="6400800"/>
          </a:xfrm>
          <a:prstGeom prst="ellipse">
            <a:avLst/>
          </a:prstGeom>
          <a:solidFill>
            <a:srgbClr val="22A7D6">
              <a:alpha val="6000"/>
            </a:srgbClr>
          </a:solidFill>
          <a:ln/>
        </p:spPr>
      </p:sp>
      <p:pic>
        <p:nvPicPr>
          <p:cNvPr id="4" name="Image 0" descr="/home/claude/refine2/img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1234440"/>
            <a:ext cx="1463040" cy="1463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2880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0F6F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VoiceGuard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548640" y="35661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22A7D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“Real Voices. A Safer Tomorrow.”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4480560" y="4251960"/>
            <a:ext cx="3200400" cy="0"/>
          </a:xfrm>
          <a:prstGeom prst="line">
            <a:avLst/>
          </a:prstGeom>
          <a:noFill/>
          <a:ln w="12700">
            <a:solidFill>
              <a:srgbClr val="1A222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33400" y="4344694"/>
            <a:ext cx="11094720" cy="6374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github.com/uk0976/VoiceGuard---AI-Voice-Clone-Deepfake-Detector</a:t>
            </a:r>
          </a:p>
          <a:p>
            <a:pPr algn="ctr"/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https://voiceguard-app.onrender.com/  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49377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&amp; discussion welcome.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VoiceGuard Forensic Platform v2.4  •  Real Voices. A Safer Tomorrow.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10241280" y="6537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B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14 / 14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1616</Words>
  <Application>Microsoft Office PowerPoint</Application>
  <PresentationFormat>Widescreen</PresentationFormat>
  <Paragraphs>212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Century Schoolbook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Umer Khan</cp:lastModifiedBy>
  <cp:revision>2</cp:revision>
  <dcterms:created xsi:type="dcterms:W3CDTF">2026-09-20T08:51:22Z</dcterms:created>
  <dcterms:modified xsi:type="dcterms:W3CDTF">2026-09-20T10:32:55Z</dcterms:modified>
</cp:coreProperties>
</file>
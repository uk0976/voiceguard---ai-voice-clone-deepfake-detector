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00584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632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6FC"/>
                </a:solidFill>
                <a:latin typeface="Calibri"/>
              </a:defRPr>
            </a:pPr>
            <a:r>
              <a:t>VoiceGuard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A7D6"/>
                </a:solidFill>
                <a:latin typeface="Calibri"/>
              </a:defRPr>
            </a:pPr>
            <a:r>
              <a:t>AI Voice Clone &amp; Deepfake Forensic Defense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4A3B8"/>
                </a:solidFill>
                <a:latin typeface="Georgia"/>
              </a:defRPr>
            </a:pPr>
            <a:r>
              <a:t>“Real Voices. A Safer Tomorrow.”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0F6FC"/>
                </a:solidFill>
                <a:latin typeface="Calibri"/>
              </a:defRPr>
            </a:pPr>
            <a:r>
              <a:t>Dual-Engine Neural &amp; DSP Invariant Forensics  |  Devengers 2.0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The Exponential Rise of AI Voice Cloning &amp;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🚨 Zero-Shot Cloning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Modern generative diffusion &amp; vocoder models clone target voices in under 3 seconds.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Tools like ElevenLabs, RVC, XTTS, and DiffSinger are freely available and easily weaponized.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High acoustic realism makes audio deepfakes indistinguishable to human 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🎯 Exploited Attack Vectors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Grandparent Scams: Emergency impersonation calls coercing urgent wire payments.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CEO Authorization Fraud: C-suite deepfakes authorizing fraudulent financial transfers.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Automated IVR Attacks: High-volume robocalls bypassing banking voice biometrics.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⚠️ The Defense Gap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Black-Box AI Models: Existing tools return arbitrary 100% or 0% scores with zero rationale.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Privacy Violations: Many services store voice prints in centralized, vulnerable databases.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Need: Real-time, explainable, and privacy-first biometric forensic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VoiceGuard: Next-Generation Audio Biometric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75504" cy="2103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🔬 Dual-Engine Fusion Core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Combines deep latent sequence classification (Wav2Vec2) with physical acoustic signal processing (Librosa) to uncover microscopic vocoder artifacts invisible to human 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00200"/>
            <a:ext cx="5175504" cy="2103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73736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⚖️ Calibrated Continuous Confidence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Employs Logit Temperature Scaling (T = 3.0) to eliminate artificial 100% saturation, providing honest, fluctuating decimal precision that reflects true channel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103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⚡ Dual Real-Time Operational Modes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Mode A: Deep multi-format file analyzer (WAV, MP3, M4A, FLAC).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Mode B: Sub-second live microphone streaming via WebSockets with rolling temporal consensus and 60 FPS visualizer.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3931920"/>
            <a:ext cx="5175504" cy="2103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4069080"/>
            <a:ext cx="49011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🔒 Zero-Retention Biometric Privacy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Strict Privacy-by-Design: Audio is decoded exclusively in ephemeral RAM and never persisted. 100% compliant with GDPR Article 9, CCPA, and NIST Biometric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SYSTEM DESIGN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Dual-Engine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04 / 14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94944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554480"/>
            <a:ext cx="3502152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691640"/>
            <a:ext cx="32278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Key Engineering Highlights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1. Audio Preprocessing: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16 kHz mono conversion, peak normalization, VAD silence gating.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2. Engine A (Deep Classifier):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Wav2Vec2 sequence transformer extracting latent temporal embeddings.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3. Engine B (Physical DSP):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Librosa signal chain checking pitch jitter, spectral flatness, and respiration.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4. Decision Fusion Core: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Score = 0.75 · Model + 0.25 · Heuristic.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5. Dynamic Report Engine: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Instant SHA-256 certified PDF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DEEP LEARNING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Engine A: Pretrained Neural Sequence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75504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01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Wav2Vec2 Architecture &amp; Pretraining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Backbone Model: MelodyMachine/Deepfake-audio-detection-V2.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Self-Supervised Audio Representations: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Trained on tens of thousands of authentic human and synthetic voice clones.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Temporal Latent Embedding Analysis: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Exposes mathematical phase inconsistencies, neural synthesis boundaries, and vocoder harmonic dispersion.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Cross-Entropy Logit Margins: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Produces raw logit differential Δz = z_synthetic - z_real indicating model polarity.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00200"/>
            <a:ext cx="5175504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737360"/>
            <a:ext cx="49011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Why A Transformer Alone Isn't Enough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Out-of-Distribution Vulnerability: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Novel, unseen vocoder architectures can bypass neural classifiers trained on older TTS datasets.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Channel Distortion Bias: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Microphone clipping, phone compression (AMR-WB), and WhatsApp codecs introduce artifacts that confuse pure neural models.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The VoiceGuard Countermeasure: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Engine A's latent inference is cross-validated against physical acoustic invariants (Engine B) to ensure rock-solid resilience.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PHYSICAL ACOUSTICS &amp;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Engine B: Mathematical Acoustic Invariants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06 / 14</a:t>
            </a:r>
          </a:p>
        </p:txBody>
      </p:sp>
      <p:pic>
        <p:nvPicPr>
          <p:cNvPr id="6" name="Picture 5" descr="acoustic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8521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599432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91640"/>
            <a:ext cx="4325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4 Physiological Acoustic Invariants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1. Laryngeal Pitch Jitter (F0):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Biological vocal folds naturally exhibit micro-frequency variations. Neural vocoders generate unnaturally rigid pitch (&lt; 0.018).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2. Spectral Flatness (Wiener Entropy):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Evaluates formant resonance vs white noise floors. Diffusion vocoders show elevated flatness (&gt; 0.035).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3. Respiration &amp; Silence Cadence: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Biological speakers pause for breath (30-50% silence). Synthetic speech frequently lacks breathing intervals (&lt; 10%).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4. Spectral Centroid Mass: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 Validates anatomical human vocal tract resonance.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MATHEMATICAL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Continuous Confidence vs False 100% Saturation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07 / 14</a:t>
            </a:r>
          </a:p>
        </p:txBody>
      </p:sp>
      <p:pic>
        <p:nvPicPr>
          <p:cNvPr id="6" name="Picture 5" descr="temperature_calibr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8521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599432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91640"/>
            <a:ext cx="43251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Logit Temperature Scaling (T = 3.0)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The Problem: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Deep sequence models output large logit margins (|Δz| &gt; 10). At T=1.0, standard softmax saturates at 0.99998, falsely displaying '100% AI'.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The Solution: P = σ( (z1 - z0) / 3.0 )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Applying temperature scaling softens overconfident logits without altering decision boundaries.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The Result: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- fake_1.wav: 97.5% Synthetic (not 100%)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- real_1.wav: 95.8% Human (4.2% AI)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- Live Mic: Honest, fluctuating decimals.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USER EXPERIENCE &amp; FORENSIC WORKSTATION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Professional Cyber-Forensic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08 / 14</a:t>
            </a:r>
          </a:p>
        </p:txBody>
      </p:sp>
      <p:pic>
        <p:nvPicPr>
          <p:cNvPr id="6" name="Picture 5" descr="ui_overvie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175504" cy="2926080"/>
          </a:xfrm>
          <a:prstGeom prst="rect">
            <a:avLst/>
          </a:prstGeom>
        </p:spPr>
      </p:pic>
      <p:pic>
        <p:nvPicPr>
          <p:cNvPr id="7" name="Picture 6" descr="ui_file_analy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00200"/>
            <a:ext cx="5175504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709160"/>
            <a:ext cx="5175504" cy="150876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1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Overview &amp; Audio Benchmark Picker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Instant access to bundled reference audio clips (real vs fake pairs) enabling zero-setup model validation and live demonstrations.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709160"/>
            <a:ext cx="5175504" cy="150876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1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484632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Deep File Analyzer &amp; Dynamic Summary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High-contrast spectrum bar, animated waveform visualizer, and 100% data-driven forensic telemetry explanations.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REAL-TIME STREAMING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Live Microphone Streaming &amp; Dynamic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09 / 14</a:t>
            </a:r>
          </a:p>
        </p:txBody>
      </p:sp>
      <p:pic>
        <p:nvPicPr>
          <p:cNvPr id="6" name="Picture 5" descr="ui_live_stream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175504" cy="2926080"/>
          </a:xfrm>
          <a:prstGeom prst="rect">
            <a:avLst/>
          </a:prstGeom>
        </p:spPr>
      </p:pic>
      <p:pic>
        <p:nvPicPr>
          <p:cNvPr id="7" name="Picture 6" descr="ui_human_voice_ver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00200"/>
            <a:ext cx="5175504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709160"/>
            <a:ext cx="5175504" cy="150876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1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Sub-Second Rolling WebSockets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Captures 16 kHz audio slices (1.5s windows), renders 60 FPS HTML5 canvas waveforms, and filters ambient noise via VAD energy thresholding.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709160"/>
            <a:ext cx="5175504" cy="150876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1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484632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Dynamic Post-Stream Session Summary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Clicking 'Stop listening' immediately evaluates total slices, agreement percentage, and vocal cord jitter into an actionable forensic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COMPLIANCE &amp; CHAIN OF CUSTODY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Certified Forensic PDF Evidence 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🔒 Cryptographic Integrity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Client-Side SHA-256 Checksums: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Every generated report computes a cryptographic digest of the target audio file.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Tamper-Evident Stamping: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Guarantees chain of custody for legal and corporate compliance.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Formal Chain-of-Custody Footer: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ISO/IEC 30107 compliance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📊 Complete Telemetry Audit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Official Logo Integration: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Branded top header with certified report ID and timestamp.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Multi-Metric Invariant Table: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Records exact values for Pitch Jitter, Spectral Flatness, and Silence Ratios.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Forensic Advisory: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Specific corporate risk advisories.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💼 Enterprise Ready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Corporate Audit Admissible: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Ready for inclusion in fraud investigations and legal discovery.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Instant One-Click Export: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Downloadable from both file analyzer and live stream summary.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Zero Licensing Overhead: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User retains 100% report ownership.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VALIDATION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Empirical Benchmark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11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Sample 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Audio File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Predicted Label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Calibrated Confidence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BENCH-01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real_1.wav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Authentic Human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Human Voice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95.8% Authenticity (4.2% AI)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BENCH-02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real_2.wav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Authentic Human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Human Voice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97.4% Authenticity (2.6% AI)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BENCH-03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fake_1.wav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ElevenLabs Neural Clone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97.5% Synthetic Probability</a:t>
                      </a:r>
                    </a:p>
                  </a:txBody>
                  <a:tcPr>
                    <a:solidFill>
                      <a:srgbClr val="1218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BENCH-04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fake_2.wav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  <a:latin typeface="Calibri"/>
                        </a:defRPr>
                      </a:pPr>
                      <a:r>
                        <a:t>RVC Voice Conversion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97.5% Synthetic Probability</a:t>
                      </a:r>
                    </a:p>
                  </a:txBody>
                  <a:tcPr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97680"/>
            <a:ext cx="10728655" cy="16459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104543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Empirical Takeaways &amp; Latency Metrics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Score Divergence Margin: &gt; 90% confidence separation between genuine and deepfake audio.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End-to-End Latency: &lt; 1.2 seconds for full 15s audio files; ~180ms rolling latency for live streaming chunks.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Noise Robustness: VAD thresholding successfully prevents ambient room silence from falsely triggering synthetic alerts.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SECURITY &amp; ETHICAL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Zero-Retention Biometric Privacy Guarantee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🛡️ RAM-Only Execution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Ephemeral Audio Buffers: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Voice data received via REST or WebSockets exists strictly in volatile RAM during tensor extraction.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Zero Disk Persistence: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Audio buffers are immediately purged upon score computation. No voice prints or raw recordings are saved to server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💻 Local-First Storage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Client-Side Persistence: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Analysis histories, generated reports, and forensic metadata are stored exclusively in the user's browser (localStorage).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Complete User Data Custody: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Users have full control to clear audit trails at any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📜 Regulatory Compliance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GDPR Article 9: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Meets strict European standards for biometric data processing without unauthorized storage.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CCPA &amp; BIPA Aligned: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Complies with California and Illinois biometric privacy mandates.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NIST Biometric Standards: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Conforms to Presentation Attack Detection (PAD) guidelines.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A7D6"/>
                </a:solidFill>
                <a:latin typeface="Calibri"/>
              </a:defRPr>
            </a:pPr>
            <a:r>
              <a:t>COMMERCIAL VECTORS &amp;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Calibri"/>
              </a:defRPr>
            </a:pPr>
            <a:r>
              <a:t>Future Roadmap &amp; Enterprise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22A7D6"/>
          </a:solidFill>
          <a:ln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VoiceGuard Forensic Platform v2.4  •  Real Voices. A Safer Tomorrow.  •  Slide 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🌐 Browser Extension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Live Web Call Defense: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Background audio listener for Google Meet, Zoom, and WhatsApp Web.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Instant Visual Alerts: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Heads-up warning banner when a synthetic voice clone is injected into live video conferences.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📞 Telephony PBX Bridge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Call-Center SIP/RTP Bridge: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Direct integration with enterprise VoIP PBX networks (Twilio, Asterisk).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Inbound Call Risk Scoring: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Automated synthetic score generated before call-center agents authenticate high-value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00200"/>
            <a:ext cx="3328416" cy="4389120"/>
          </a:xfrm>
          <a:prstGeom prst="roundRect">
            <a:avLst/>
          </a:prstGeom>
          <a:solidFill>
            <a:srgbClr val="121822"/>
          </a:solidFill>
          <a:ln w="15240">
            <a:solidFill>
              <a:srgbClr val="22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737360"/>
            <a:ext cx="30540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0F6FC"/>
                </a:solidFill>
                <a:latin typeface="Calibri"/>
              </a:defRPr>
            </a:pPr>
            <a:r>
              <a:t>🤖 Multi-Model Ensemble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Whisper Phoneme Durations: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Measuring neural text-to-speech cadence against natural human phoneme timings.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• Self-Supervised AASIST: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  Spectral Graph Attention network fusion for extreme lossy audio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09728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0F6FC"/>
                </a:solidFill>
                <a:latin typeface="Calibri"/>
              </a:defRPr>
            </a:pPr>
            <a:r>
              <a:t>VoiceGuard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2A7D6"/>
                </a:solidFill>
                <a:latin typeface="Georgia"/>
              </a:defRPr>
            </a:pPr>
            <a:r>
              <a:t>“Real Voices. A Safer Tomorrow.”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">
                <a:solidFill>
                  <a:srgbClr val="F0F6FC"/>
                </a:solidFill>
                <a:latin typeface="Calibri"/>
              </a:defRPr>
            </a:pPr>
            <a:r>
              <a:t>GitHub Repository: https://github.com/uk0976/VoiceGuard---AI-Voice-Clone-Deepfake-Detector</a:t>
            </a:r>
          </a:p>
          <a:p>
            <a:pPr algn="ctr">
              <a:spcAft>
                <a:spcPts val="10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Live Workstation: http://localhost:5173  |  FastAPI Backend: http://127.0.0.1:8000</a:t>
            </a:r>
          </a:p>
          <a:p>
            <a:pPr algn="ctr">
              <a:defRPr b="1" sz="1400">
                <a:solidFill>
                  <a:srgbClr val="22A7D6"/>
                </a:solidFill>
                <a:latin typeface="Calibri"/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